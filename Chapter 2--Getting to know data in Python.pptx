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A9203-3C71-324E-DB6E-185797C9B2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5A5931-5705-52A7-A4C9-622B755BF4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78D14-4A89-3FD6-41B8-335695C5C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54A5-E61D-42D9-8B66-9ECD2C03B6A5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D11CD-1EF8-1AEF-2565-5422678C2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6E8EA-5907-5DC7-69C4-8777CB92A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43D6A-A125-4279-BD65-54AC3AD56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099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E5A3C-6439-5935-D0B0-F896D1327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8E55E-9EF9-F714-7843-BF8AEDD27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B0E00-4D8D-28BC-86A7-630EAF2C6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54A5-E61D-42D9-8B66-9ECD2C03B6A5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1C167-5AD3-FF12-6E73-091BD8A87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885F7-3EDA-115C-F105-0667AB54D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43D6A-A125-4279-BD65-54AC3AD56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794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F58FE-A537-0011-F4F7-E24402691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2A1BE-2804-F2CB-7D9E-5A6AF2912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1138A-F2F3-A6BD-4DC0-424DC119A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54A5-E61D-42D9-8B66-9ECD2C03B6A5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42C39-AB0C-C106-0908-83728B91B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78D4F-E509-6EC5-58C4-244823D66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43D6A-A125-4279-BD65-54AC3AD56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711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F2355-49E3-DCA0-3F6A-CC048B67D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CCA18-E9B2-2231-FEB4-7A1FBD1253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07C07-BF21-7871-FF19-5BCD3ACE3B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A095A-8BC2-830E-3B94-0C7719B84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54A5-E61D-42D9-8B66-9ECD2C03B6A5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79FBD-F2C2-0779-D8C6-BF0EB9DC2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11E1DF-BD85-FFC8-0BAE-89E4F8646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43D6A-A125-4279-BD65-54AC3AD56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03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3AC38-5823-4E83-11D6-1337D3172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47659-8730-15C7-07D9-BF70493CE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2F0DB0-1D56-09BE-6337-7E9F0489B0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4739C-EB0D-9090-3361-5AD161C385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760E4F-7A1D-AEF7-0A6A-9240BE6B33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58EE4A-AFC8-17E3-BC64-B122B537D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54A5-E61D-42D9-8B66-9ECD2C03B6A5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AA5E8B-39D8-AEDE-D9BA-EC7F77BE4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670D1E-8B6F-1707-48F7-C12755A07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43D6A-A125-4279-BD65-54AC3AD56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229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0B3D3-619B-4B1F-6A6F-5BAA7E2DE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B97740-948A-AF9B-3DC5-267F6E2A1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54A5-E61D-42D9-8B66-9ECD2C03B6A5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543C76-C606-E436-4037-8839231BE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233582-147B-2F15-6649-7216FA812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43D6A-A125-4279-BD65-54AC3AD56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023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335AF1-4877-410D-CB94-CBC5E4B35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54A5-E61D-42D9-8B66-9ECD2C03B6A5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8EF6B3-AD3E-6AC3-AA57-8A35339C0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4328B-718F-FF0C-A221-73637F0E0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43D6A-A125-4279-BD65-54AC3AD56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646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162B0-2A9D-9E6D-1466-FADB8BE9F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D1EE6-CC03-F26D-E449-343F9BC15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4BEDED-7BEC-F9D2-A8BD-9A99B4F77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63C64-493E-0C90-3253-23691C2AD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54A5-E61D-42D9-8B66-9ECD2C03B6A5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91E311-398A-BA4B-A3A8-11B219116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3B570E-16C9-70E1-1DB2-71A50E09B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43D6A-A125-4279-BD65-54AC3AD56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745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FE8DF-37BB-83D4-B16D-6603B9632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25F7F3-D0B4-F2A5-34E1-C7E5914A19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5CE922-7C9E-25E5-549D-0DA74C79E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A93C48-B7DF-EC9D-372A-AFC1C665E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54A5-E61D-42D9-8B66-9ECD2C03B6A5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E48741-ECC2-3453-6D9F-EA35F2CD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0B9FD3-511A-4777-F628-2FFCF80F7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43D6A-A125-4279-BD65-54AC3AD56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796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A1ED6-3952-B097-FB58-6C4656C82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97C258-7760-C6D1-2FAE-61C638E38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2F9B1-C743-E028-0EBC-F479153F1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54A5-E61D-42D9-8B66-9ECD2C03B6A5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EED7D-F677-C74B-EC39-88C0E0D9B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928C1-0EC9-EF91-1CE0-407C2C881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43D6A-A125-4279-BD65-54AC3AD56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891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FF366B-5BC8-3467-07DA-598FEC4DC2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1AD440-A027-F43E-D49A-D77A7836B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F74C8-6B42-093E-B4D6-385D637CF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54A5-E61D-42D9-8B66-9ECD2C03B6A5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747CF-BE64-6E2A-9481-97FD94D41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E0DF-B9BC-CD94-2E1C-49EE548C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43D6A-A125-4279-BD65-54AC3AD56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840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8A4DFB-8010-66BD-2205-AED4420EA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F828B-0098-CA40-11CF-C4EC2E458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F6D76-821E-149D-C161-9E87E3266A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C754A5-E61D-42D9-8B66-9ECD2C03B6A5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8ADD0-29EF-4586-B049-25B2921BE5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E7733-0BEF-D393-9168-ED40D1FE00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243D6A-A125-4279-BD65-54AC3AD56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22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FDCFB-F741-014F-E958-29F970443C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2: Getting to know data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68B39A-E9D9-21B4-F27F-7D85141652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500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C0B98-5121-2C79-69F5-7567FA0C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Data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561F9-664E-D406-5D64-F2327C631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422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32ED8-2295-1F36-C16E-C06241A71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25DCA-C06A-18DB-0047-0A4415EE6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None</a:t>
            </a:r>
          </a:p>
          <a:p>
            <a:r>
              <a:rPr lang="en-US" dirty="0"/>
              <a:t>Number (integer, float, complex)</a:t>
            </a:r>
          </a:p>
          <a:p>
            <a:r>
              <a:rPr lang="en-US" dirty="0"/>
              <a:t>Boolean</a:t>
            </a:r>
          </a:p>
          <a:p>
            <a:r>
              <a:rPr lang="en-US" dirty="0"/>
              <a:t>Sequences (mutable, immutable)</a:t>
            </a:r>
          </a:p>
          <a:p>
            <a:r>
              <a:rPr lang="en-US" dirty="0"/>
              <a:t>Set</a:t>
            </a:r>
          </a:p>
          <a:p>
            <a:r>
              <a:rPr lang="en-US" dirty="0"/>
              <a:t>Dictionary</a:t>
            </a:r>
          </a:p>
        </p:txBody>
      </p:sp>
    </p:spTree>
    <p:extLst>
      <p:ext uri="{BB962C8B-B14F-4D97-AF65-F5344CB8AC3E}">
        <p14:creationId xmlns:p14="http://schemas.microsoft.com/office/powerpoint/2010/main" val="1031062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70223-2E35-07C8-73CE-54EE842E1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ED9D9-804B-5903-EAA8-61427F403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It signifies the absence of value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None</a:t>
            </a:r>
          </a:p>
          <a:p>
            <a:pPr marL="0" indent="0"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/>
              <a:t>Example: checking something is absent or not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&gt;&gt;&gt;	incentive = 100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&gt;&gt;&gt;	if incentive is None: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		print(‘No incentive’)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	else: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		print(‘Received incentive’)</a:t>
            </a:r>
          </a:p>
        </p:txBody>
      </p:sp>
    </p:spTree>
    <p:extLst>
      <p:ext uri="{BB962C8B-B14F-4D97-AF65-F5344CB8AC3E}">
        <p14:creationId xmlns:p14="http://schemas.microsoft.com/office/powerpoint/2010/main" val="3744985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80BBB-02DC-7DD9-A8BD-9A3DE7FAF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Number: Integer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32624-7D16-68AE-66B7-D8580C058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It is a mathematical integer that has an unlimited range between negative number to positive number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 = 1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 = -100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 = 10_000_000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Invalid integer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rgbClr val="FF0000"/>
                </a:solidFill>
              </a:rPr>
              <a:t>x = 01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 integer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rgbClr val="FF0000"/>
                </a:solidFill>
              </a:rPr>
              <a:t>y = ‘1’</a:t>
            </a:r>
          </a:p>
        </p:txBody>
      </p:sp>
    </p:spTree>
    <p:extLst>
      <p:ext uri="{BB962C8B-B14F-4D97-AF65-F5344CB8AC3E}">
        <p14:creationId xmlns:p14="http://schemas.microsoft.com/office/powerpoint/2010/main" val="2144465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D8D2C-F64A-029D-9140-D3D9A785C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Number: float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B5412-5F10-B13E-2ED1-99806809A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4703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An approximation of a real number given a degree of precision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a = 3.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b = 3.0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c = 3e0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d = 1_000.125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5E29802-F7A4-3ADD-7BB3-5CBF093358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05856" y="1825625"/>
                <a:ext cx="5007864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With irrational numbers like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endParaRPr lang="en-US" b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&gt;&gt;&gt;	</a:t>
                </a:r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</a:rPr>
                  <a:t>np.float16(</a:t>
                </a:r>
                <a:r>
                  <a:rPr lang="en-US" dirty="0" err="1">
                    <a:solidFill>
                      <a:schemeClr val="accent6">
                        <a:lumMod val="50000"/>
                      </a:schemeClr>
                    </a:solidFill>
                  </a:rPr>
                  <a:t>math.pi</a:t>
                </a:r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</a:rPr>
                  <a:t>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	3.14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&gt;&gt;&gt;	</a:t>
                </a:r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</a:rPr>
                  <a:t>np.float32(</a:t>
                </a:r>
                <a:r>
                  <a:rPr lang="en-US" dirty="0" err="1">
                    <a:solidFill>
                      <a:schemeClr val="accent6">
                        <a:lumMod val="50000"/>
                      </a:schemeClr>
                    </a:solidFill>
                  </a:rPr>
                  <a:t>math.pi</a:t>
                </a:r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</a:rPr>
                  <a:t>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	3.1415927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&gt;&gt;&gt;	</a:t>
                </a:r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</a:rPr>
                  <a:t>np.float64(</a:t>
                </a:r>
                <a:r>
                  <a:rPr lang="en-US" dirty="0" err="1">
                    <a:solidFill>
                      <a:schemeClr val="accent6">
                        <a:lumMod val="50000"/>
                      </a:schemeClr>
                    </a:solidFill>
                  </a:rPr>
                  <a:t>math.pi</a:t>
                </a:r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</a:rPr>
                  <a:t>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	3.141592653589793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&gt;&gt;&gt;	</a:t>
                </a:r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</a:rPr>
                  <a:t>np.float128(</a:t>
                </a:r>
                <a:r>
                  <a:rPr lang="en-US" dirty="0" err="1">
                    <a:solidFill>
                      <a:schemeClr val="accent6">
                        <a:lumMod val="50000"/>
                      </a:schemeClr>
                    </a:solidFill>
                  </a:rPr>
                  <a:t>math.pi</a:t>
                </a:r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</a:rPr>
                  <a:t>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	3.141592653589793116</a:t>
                </a: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5E29802-F7A4-3ADD-7BB3-5CBF09335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856" y="1825625"/>
                <a:ext cx="5007864" cy="4351338"/>
              </a:xfrm>
              <a:prstGeom prst="rect">
                <a:avLst/>
              </a:prstGeom>
              <a:blipFill>
                <a:blip r:embed="rId2"/>
                <a:stretch>
                  <a:fillRect l="-2433" t="-3081" b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3189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B761B-619F-30C2-F4D3-030A10725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Number: Complex number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A8EE73-2514-5FFB-56A4-C9F002CB0F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In math,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ra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dirty="0"/>
                  <a:t>, and this is a type of complex number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In Python, this can be implemented too</a:t>
                </a:r>
              </a:p>
              <a:p>
                <a:pPr marL="0" indent="0">
                  <a:buNone/>
                </a:pPr>
                <a:r>
                  <a:rPr lang="en-US" dirty="0"/>
                  <a:t>&gt;&gt;&gt;	</a:t>
                </a:r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</a:rPr>
                  <a:t>import </a:t>
                </a:r>
                <a:r>
                  <a:rPr lang="en-US" dirty="0" err="1">
                    <a:solidFill>
                      <a:schemeClr val="accent6">
                        <a:lumMod val="50000"/>
                      </a:schemeClr>
                    </a:solidFill>
                  </a:rPr>
                  <a:t>cmath</a:t>
                </a:r>
                <a:endParaRPr lang="en-US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&gt;&gt;&gt; 	</a:t>
                </a:r>
                <a:r>
                  <a:rPr lang="en-US" dirty="0" err="1">
                    <a:solidFill>
                      <a:schemeClr val="accent6">
                        <a:lumMod val="50000"/>
                      </a:schemeClr>
                    </a:solidFill>
                  </a:rPr>
                  <a:t>cmath.sqrt</a:t>
                </a:r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</a:rPr>
                  <a:t>(-1)</a:t>
                </a:r>
              </a:p>
              <a:p>
                <a:pPr marL="0" indent="0">
                  <a:buNone/>
                </a:pPr>
                <a:r>
                  <a:rPr lang="en-US" dirty="0"/>
                  <a:t>	1j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A8EE73-2514-5FFB-56A4-C9F002CB0F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7481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C0881-4032-9927-96BF-0FAEA5DEB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39FDA-517F-DFB2-9A99-D6688B6A2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97808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It has only 2 values: 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True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False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OR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bool(1)</a:t>
            </a:r>
          </a:p>
          <a:p>
            <a:pPr marL="0" indent="0">
              <a:buNone/>
            </a:pPr>
            <a:r>
              <a:rPr lang="en-US" dirty="0"/>
              <a:t>	True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bool(0)</a:t>
            </a:r>
          </a:p>
          <a:p>
            <a:pPr marL="0" indent="0">
              <a:buNone/>
            </a:pPr>
            <a:r>
              <a:rPr lang="en-US" dirty="0"/>
              <a:t>	False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int(True)</a:t>
            </a:r>
          </a:p>
          <a:p>
            <a:pPr marL="0" indent="0">
              <a:buNone/>
            </a:pPr>
            <a:r>
              <a:rPr lang="en-US" dirty="0"/>
              <a:t>	1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int(False)</a:t>
            </a:r>
          </a:p>
          <a:p>
            <a:pPr marL="0" indent="0">
              <a:buNone/>
            </a:pPr>
            <a:r>
              <a:rPr lang="en-US" dirty="0"/>
              <a:t>	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FBCAB09-2424-D7B0-01B2-86A93F1CEA74}"/>
              </a:ext>
            </a:extLst>
          </p:cNvPr>
          <p:cNvSpPr txBox="1">
            <a:spLocks/>
          </p:cNvSpPr>
          <p:nvPr/>
        </p:nvSpPr>
        <p:spPr>
          <a:xfrm>
            <a:off x="4361688" y="1825625"/>
            <a:ext cx="699211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Example of use case: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&gt;&gt;&gt;	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3 &gt; 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	True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&gt;&gt;&gt;	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3 &lt; 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	False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&gt;&gt;&gt;	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heights = [1.54, 1.75, 1.80, 1.64]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&gt;&gt;&gt;	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[height for height in heights if height &gt;= 1.6]</a:t>
            </a:r>
          </a:p>
          <a:p>
            <a:pPr marL="0" indent="0">
              <a:buNone/>
            </a:pPr>
            <a:r>
              <a:rPr lang="en-US" sz="2400" dirty="0"/>
              <a:t>	 [1.75, 1.8, 1.64]</a:t>
            </a:r>
          </a:p>
        </p:txBody>
      </p:sp>
    </p:spTree>
    <p:extLst>
      <p:ext uri="{BB962C8B-B14F-4D97-AF65-F5344CB8AC3E}">
        <p14:creationId xmlns:p14="http://schemas.microsoft.com/office/powerpoint/2010/main" val="2044792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2E133-18CE-3C4F-C2DD-1286D28B6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Sequences (mutable, immutable)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DF1BD-FDB6-833D-944F-177793A6A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These represent finite ordered sets indexed by non-negative numbers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When the length of a sequence is </a:t>
            </a:r>
            <a:r>
              <a:rPr lang="en-US" i="1" dirty="0"/>
              <a:t>n</a:t>
            </a:r>
            <a:r>
              <a:rPr lang="en-US" dirty="0"/>
              <a:t>, the index set contains the numbers 0, 1, …, </a:t>
            </a:r>
            <a:r>
              <a:rPr lang="en-US" i="1" dirty="0"/>
              <a:t>n</a:t>
            </a:r>
            <a:r>
              <a:rPr lang="en-US" dirty="0"/>
              <a:t>-1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An object of an immutable sequence type cannot change once it is created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Mutable sequences can be changed after they are created. 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44031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CC072-141A-7500-78B0-5AC5FC9D3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Immutable Sequence: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DDDF8-82F2-EBA5-1CA9-C35E022D6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A string can be created by using wrap-around quotation marks:</a:t>
            </a:r>
          </a:p>
          <a:p>
            <a:r>
              <a:rPr lang="en-US" dirty="0"/>
              <a:t>'snack’</a:t>
            </a:r>
          </a:p>
          <a:p>
            <a:r>
              <a:rPr lang="en-US" dirty="0"/>
              <a:t>"snack“</a:t>
            </a:r>
          </a:p>
          <a:p>
            <a:r>
              <a:rPr lang="en-US" dirty="0"/>
              <a:t>'''snack'‘’</a:t>
            </a:r>
          </a:p>
          <a:p>
            <a:r>
              <a:rPr lang="en-US" dirty="0"/>
              <a:t>"""snack""“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a = '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iLikeIt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’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a[0]</a:t>
            </a:r>
          </a:p>
          <a:p>
            <a:pPr marL="0" indent="0">
              <a:buNone/>
            </a:pPr>
            <a:r>
              <a:rPr lang="en-US" dirty="0"/>
              <a:t>	‘</a:t>
            </a:r>
            <a:r>
              <a:rPr lang="en-US" dirty="0" err="1"/>
              <a:t>i</a:t>
            </a:r>
            <a:r>
              <a:rPr lang="en-US" dirty="0"/>
              <a:t>’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a[3]</a:t>
            </a:r>
          </a:p>
          <a:p>
            <a:pPr marL="0" indent="0">
              <a:buNone/>
            </a:pPr>
            <a:r>
              <a:rPr lang="en-US" dirty="0"/>
              <a:t>	‘k’</a:t>
            </a:r>
          </a:p>
          <a:p>
            <a:pPr marL="0" indent="0">
              <a:buNone/>
            </a:pPr>
            <a:r>
              <a:rPr lang="en-US" dirty="0"/>
              <a:t>&gt;&gt;&gt;	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a[2] = 'b’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TypeError</a:t>
            </a:r>
            <a:r>
              <a:rPr lang="en-US" dirty="0">
                <a:solidFill>
                  <a:srgbClr val="FF0000"/>
                </a:solidFill>
              </a:rPr>
              <a:t>: 'str' object does not support item assignment</a:t>
            </a:r>
          </a:p>
        </p:txBody>
      </p:sp>
    </p:spTree>
    <p:extLst>
      <p:ext uri="{BB962C8B-B14F-4D97-AF65-F5344CB8AC3E}">
        <p14:creationId xmlns:p14="http://schemas.microsoft.com/office/powerpoint/2010/main" val="2822575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71547-1410-4182-F5F8-EB245A061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Immutable Sequence: Bytes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EB7C1-058C-B759-1214-CDC826223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8-bit bytes represented by integers in the range 0 &lt;= x &lt; 256. </a:t>
            </a:r>
          </a:p>
          <a:p>
            <a:pPr marL="0" indent="0">
              <a:buNone/>
            </a:pPr>
            <a:r>
              <a:rPr lang="en-US" dirty="0"/>
              <a:t>&gt;&gt;&gt; 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 =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‘I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like Python’</a:t>
            </a:r>
          </a:p>
          <a:p>
            <a:pPr marL="0" indent="0">
              <a:buNone/>
            </a:pPr>
            <a:r>
              <a:rPr lang="en-US" dirty="0"/>
              <a:t>	 </a:t>
            </a:r>
            <a:r>
              <a:rPr lang="en-US" dirty="0" err="1"/>
              <a:t>b‘I</a:t>
            </a:r>
            <a:r>
              <a:rPr lang="en-US" dirty="0"/>
              <a:t> like Python’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a[0]</a:t>
            </a:r>
          </a:p>
          <a:p>
            <a:pPr marL="0" indent="0">
              <a:buNone/>
            </a:pPr>
            <a:r>
              <a:rPr lang="en-US" dirty="0"/>
              <a:t>	105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a[0] = 117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TypeError</a:t>
            </a:r>
            <a:r>
              <a:rPr lang="en-US" dirty="0">
                <a:solidFill>
                  <a:srgbClr val="FF0000"/>
                </a:solidFill>
              </a:rPr>
              <a:t>: 'bytes' object does not support item assignment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595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7452A-EC9F-F2A0-A53A-7AD5352DE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Immutable Sequence: Tuple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006DF-671D-E53A-A7E9-9F890A70B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 = 1, 2, 3</a:t>
            </a:r>
          </a:p>
          <a:p>
            <a:pPr marL="0" indent="0">
              <a:buNone/>
            </a:pPr>
            <a:r>
              <a:rPr lang="en-US" dirty="0"/>
              <a:t>	(1, 2, 3)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 = (1, 2, 3)</a:t>
            </a:r>
          </a:p>
          <a:p>
            <a:pPr marL="0" indent="0">
              <a:buNone/>
            </a:pPr>
            <a:r>
              <a:rPr lang="en-US" dirty="0"/>
              <a:t>	(1, 2, 3)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 = tuple([1, 2, 3])</a:t>
            </a:r>
          </a:p>
          <a:p>
            <a:pPr marL="0" indent="0">
              <a:buNone/>
            </a:pPr>
            <a:r>
              <a:rPr lang="en-US" dirty="0"/>
              <a:t>	(1, 2, 3)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c[2]</a:t>
            </a:r>
          </a:p>
          <a:p>
            <a:pPr marL="0" indent="0">
              <a:buNone/>
            </a:pPr>
            <a:r>
              <a:rPr lang="en-US" dirty="0"/>
              <a:t>	3</a:t>
            </a:r>
          </a:p>
          <a:p>
            <a:pPr marL="0" indent="0">
              <a:buNone/>
            </a:pPr>
            <a:r>
              <a:rPr lang="en-US" dirty="0"/>
              <a:t>&gt;&gt;&gt; 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c[2] = 4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TypeError</a:t>
            </a:r>
            <a:r>
              <a:rPr lang="en-US" dirty="0">
                <a:solidFill>
                  <a:srgbClr val="FF0000"/>
                </a:solidFill>
              </a:rPr>
              <a:t>: 'tuple' object does not support item assignment</a:t>
            </a:r>
          </a:p>
        </p:txBody>
      </p:sp>
    </p:spTree>
    <p:extLst>
      <p:ext uri="{BB962C8B-B14F-4D97-AF65-F5344CB8AC3E}">
        <p14:creationId xmlns:p14="http://schemas.microsoft.com/office/powerpoint/2010/main" val="1425322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F86C4-C227-BABB-DBB0-BC96440DC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Mutable sequence: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6A3F6-9501-9FD4-5EF1-E95E7FE09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 = [‘hello’, ‘world’, ‘something’]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 = list([‘hello’, ‘world’, ‘something’])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b[2]</a:t>
            </a:r>
          </a:p>
          <a:p>
            <a:pPr marL="0" indent="0">
              <a:buNone/>
            </a:pPr>
            <a:r>
              <a:rPr lang="en-US" dirty="0"/>
              <a:t>	‘something’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b[2] = ‘new thing’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print(b)</a:t>
            </a:r>
          </a:p>
          <a:p>
            <a:pPr marL="0" indent="0">
              <a:buNone/>
            </a:pPr>
            <a:r>
              <a:rPr lang="en-US" dirty="0"/>
              <a:t>	 [‘hello’, ‘world’, ‘new thing’]</a:t>
            </a:r>
          </a:p>
        </p:txBody>
      </p:sp>
    </p:spTree>
    <p:extLst>
      <p:ext uri="{BB962C8B-B14F-4D97-AF65-F5344CB8AC3E}">
        <p14:creationId xmlns:p14="http://schemas.microsoft.com/office/powerpoint/2010/main" val="186818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50B34-5A34-4DE4-4B4F-53151B039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Mutable sequence: byte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43E7D-25DD-FC78-B30D-AFAC98C62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8-bit bytes represented by integers in the range 0 &lt;= x &lt; 256. </a:t>
            </a:r>
          </a:p>
          <a:p>
            <a:pPr marL="0" indent="0">
              <a:buNone/>
            </a:pPr>
            <a:r>
              <a:rPr lang="en-US" dirty="0"/>
              <a:t>&gt;&gt;&gt; 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 =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bytearray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‘I like Python’, ‘utf-8’)</a:t>
            </a:r>
          </a:p>
          <a:p>
            <a:pPr marL="0" indent="0">
              <a:buNone/>
            </a:pPr>
            <a:r>
              <a:rPr lang="en-US" dirty="0"/>
              <a:t>	 </a:t>
            </a:r>
            <a:r>
              <a:rPr lang="en-US" dirty="0" err="1"/>
              <a:t>bytearray</a:t>
            </a:r>
            <a:r>
              <a:rPr lang="en-US" dirty="0"/>
              <a:t>(</a:t>
            </a:r>
            <a:r>
              <a:rPr lang="en-US" dirty="0" err="1"/>
              <a:t>b‘I</a:t>
            </a:r>
            <a:r>
              <a:rPr lang="en-US" dirty="0"/>
              <a:t> like Python’)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a[0]</a:t>
            </a:r>
          </a:p>
          <a:p>
            <a:pPr marL="0" indent="0">
              <a:buNone/>
            </a:pPr>
            <a:r>
              <a:rPr lang="en-US" dirty="0"/>
              <a:t>	105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a[0] = 117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print(a)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bytearray</a:t>
            </a:r>
            <a:r>
              <a:rPr lang="en-US" dirty="0"/>
              <a:t>(</a:t>
            </a:r>
            <a:r>
              <a:rPr lang="en-US" dirty="0" err="1"/>
              <a:t>b'u</a:t>
            </a:r>
            <a:r>
              <a:rPr lang="en-US" dirty="0"/>
              <a:t> like Python')</a:t>
            </a:r>
          </a:p>
        </p:txBody>
      </p:sp>
    </p:spTree>
    <p:extLst>
      <p:ext uri="{BB962C8B-B14F-4D97-AF65-F5344CB8AC3E}">
        <p14:creationId xmlns:p14="http://schemas.microsoft.com/office/powerpoint/2010/main" val="4156198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FDDA4-E59C-B8AD-0E01-553BAA752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4C8CE-8AD7-BA32-C2FB-57F24A3E8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Unordered, finite sets of unique, immutable objects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set([3, 5, 2, 1])</a:t>
            </a:r>
          </a:p>
          <a:p>
            <a:pPr marL="0" indent="0">
              <a:buNone/>
            </a:pPr>
            <a:r>
              <a:rPr lang="en-US" dirty="0"/>
              <a:t>	 {1, 2, 3, 5}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set([1, 1, 1, 2, 2, 2, 3])</a:t>
            </a:r>
          </a:p>
          <a:p>
            <a:pPr marL="0" indent="0">
              <a:buNone/>
            </a:pPr>
            <a:r>
              <a:rPr lang="en-US" dirty="0"/>
              <a:t>	{1, 2, 3}</a:t>
            </a:r>
          </a:p>
        </p:txBody>
      </p:sp>
    </p:spTree>
    <p:extLst>
      <p:ext uri="{BB962C8B-B14F-4D97-AF65-F5344CB8AC3E}">
        <p14:creationId xmlns:p14="http://schemas.microsoft.com/office/powerpoint/2010/main" val="3476241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18B43-957A-703E-2709-67222A5CC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B7196-9F81-3B27-36A8-F4603AB2C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key-value pair like </a:t>
            </a:r>
            <a:r>
              <a:rPr lang="en-US" dirty="0" err="1"/>
              <a:t>json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&gt;&gt;&gt; 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 = {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		‘name’: ‘Brown’,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		‘age’: 25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	}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 =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dict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(name = ‘Brown’, age = 25)</a:t>
            </a:r>
          </a:p>
        </p:txBody>
      </p:sp>
    </p:spTree>
    <p:extLst>
      <p:ext uri="{BB962C8B-B14F-4D97-AF65-F5344CB8AC3E}">
        <p14:creationId xmlns:p14="http://schemas.microsoft.com/office/powerpoint/2010/main" val="1316967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5E750-C824-1BBD-9EED-96BCB561E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 Pandas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F469F-6D5A-706D-5052-B88556890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fast, powerful, flexible and easy to use open source data analysis and manipulation tool.</a:t>
            </a:r>
          </a:p>
        </p:txBody>
      </p:sp>
    </p:spTree>
    <p:extLst>
      <p:ext uri="{BB962C8B-B14F-4D97-AF65-F5344CB8AC3E}">
        <p14:creationId xmlns:p14="http://schemas.microsoft.com/office/powerpoint/2010/main" val="4057285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D4475-782D-7716-BD74-73382B4D9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 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5909E-9638-5B2A-50A9-51EE156A3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It is a one-dimensional array, a basic building block in Pandas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import</a:t>
            </a:r>
            <a:r>
              <a:rPr lang="en-US" dirty="0"/>
              <a:t> pandas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as</a:t>
            </a:r>
            <a:r>
              <a:rPr lang="en-US" dirty="0"/>
              <a:t> pd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 err="1"/>
              <a:t>pd.Series</a:t>
            </a:r>
            <a:r>
              <a:rPr lang="en-US" dirty="0"/>
              <a:t>([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US" dirty="0"/>
              <a:t>,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2</a:t>
            </a:r>
            <a:r>
              <a:rPr lang="en-US" dirty="0"/>
              <a:t>,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3</a:t>
            </a:r>
            <a:r>
              <a:rPr lang="en-US" dirty="0"/>
              <a:t>])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en-US" dirty="0" err="1"/>
              <a:t>pd.Series</a:t>
            </a:r>
            <a:r>
              <a:rPr lang="en-US" dirty="0"/>
              <a:t>((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US" dirty="0"/>
              <a:t>,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2</a:t>
            </a:r>
            <a:r>
              <a:rPr lang="en-US" dirty="0"/>
              <a:t>,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3</a:t>
            </a:r>
            <a:r>
              <a:rPr lang="en-US" dirty="0"/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9807579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E4996-829D-0F01-6EF3-C6F9B1D97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 </a:t>
            </a:r>
            <a:r>
              <a:rPr lang="en-US" dirty="0" err="1"/>
              <a:t>DataFrame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030DA-8FF2-F0C6-47F8-B411660B2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 Dimensional arrays with columns and rows</a:t>
            </a:r>
          </a:p>
          <a:p>
            <a:pPr marL="0" indent="0">
              <a:buNone/>
            </a:pPr>
            <a:r>
              <a:rPr lang="en-US" dirty="0"/>
              <a:t>&gt;&gt;&gt;	</a:t>
            </a:r>
            <a:r>
              <a:rPr lang="it-IT" dirty="0"/>
              <a:t> d = {'col1': [1, 2], 'col2': [3, 4]}</a:t>
            </a:r>
          </a:p>
          <a:p>
            <a:pPr marL="0" indent="0">
              <a:buNone/>
            </a:pPr>
            <a:r>
              <a:rPr lang="en-US" dirty="0"/>
              <a:t>&gt;&gt;&gt;	 </a:t>
            </a: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pd.DataFrame</a:t>
            </a:r>
            <a:r>
              <a:rPr lang="en-US" dirty="0"/>
              <a:t>(data=d)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651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8196-49DE-3DA4-DB19-2E004CE43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Pandas/</a:t>
            </a:r>
            <a:r>
              <a:rPr lang="en-US" dirty="0" err="1"/>
              <a:t>Numpy</a:t>
            </a:r>
            <a:r>
              <a:rPr lang="en-US" dirty="0"/>
              <a:t> array vs Python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2A1BD-A319-5A0C-8833-055756AC0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8216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Let’s do a performance comparison over a series of numbers between 0 to 1_000_000 multiplied by 2. Data processing with </a:t>
            </a:r>
            <a:r>
              <a:rPr lang="en-US" dirty="0" err="1"/>
              <a:t>Numpy</a:t>
            </a:r>
            <a:r>
              <a:rPr lang="en-US" dirty="0"/>
              <a:t> array is 33 times faster than Python List.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D687DD-2C2E-1B72-6925-2EA9EC6C5FBC}"/>
              </a:ext>
            </a:extLst>
          </p:cNvPr>
          <p:cNvSpPr txBox="1">
            <a:spLocks/>
          </p:cNvSpPr>
          <p:nvPr/>
        </p:nvSpPr>
        <p:spPr>
          <a:xfrm>
            <a:off x="838200" y="2907792"/>
            <a:ext cx="4300728" cy="33284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ls = [</a:t>
            </a:r>
            <a:r>
              <a:rPr lang="en-US" dirty="0" err="1"/>
              <a:t>i</a:t>
            </a:r>
            <a:r>
              <a:rPr lang="en-US" dirty="0"/>
              <a:t> for </a:t>
            </a:r>
            <a:r>
              <a:rPr lang="en-US" dirty="0" err="1"/>
              <a:t>i</a:t>
            </a:r>
            <a:r>
              <a:rPr lang="en-US" dirty="0"/>
              <a:t> in range(0, 1_000_001)]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%%</a:t>
            </a:r>
            <a:r>
              <a:rPr lang="en-US" dirty="0" err="1"/>
              <a:t>timeit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ls:   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i</a:t>
            </a:r>
            <a:r>
              <a:rPr lang="en-US" dirty="0"/>
              <a:t> * 2</a:t>
            </a:r>
          </a:p>
          <a:p>
            <a:pPr marL="0" indent="0">
              <a:buNone/>
            </a:pPr>
            <a:endParaRPr lang="en-US" dirty="0"/>
          </a:p>
          <a:p>
            <a:pPr marL="0" indent="0" latinLnBrk="1">
              <a:buNone/>
            </a:pPr>
            <a:r>
              <a:rPr lang="en-US" dirty="0"/>
              <a:t>Result: 165 </a:t>
            </a:r>
            <a:r>
              <a:rPr lang="en-US" dirty="0" err="1"/>
              <a:t>ms</a:t>
            </a:r>
            <a:r>
              <a:rPr lang="en-US" dirty="0"/>
              <a:t> ± 48.7 </a:t>
            </a:r>
            <a:r>
              <a:rPr lang="en-US" dirty="0" err="1"/>
              <a:t>ms</a:t>
            </a:r>
            <a:r>
              <a:rPr lang="en-US" dirty="0"/>
              <a:t> per loop (mean ± std. dev. of 7 runs, 1 loop each)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DD494C0-0848-75A8-B5A4-6A4E86CE3B94}"/>
              </a:ext>
            </a:extLst>
          </p:cNvPr>
          <p:cNvSpPr txBox="1">
            <a:spLocks/>
          </p:cNvSpPr>
          <p:nvPr/>
        </p:nvSpPr>
        <p:spPr>
          <a:xfrm>
            <a:off x="5681472" y="2907792"/>
            <a:ext cx="5672328" cy="33284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np.arange</a:t>
            </a:r>
            <a:r>
              <a:rPr lang="en-US" dirty="0"/>
              <a:t>(0, 100_000_001, 1)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%%</a:t>
            </a:r>
            <a:r>
              <a:rPr lang="en-US" dirty="0" err="1"/>
              <a:t>timeit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arr</a:t>
            </a:r>
            <a:r>
              <a:rPr lang="en-US" dirty="0"/>
              <a:t> * 2</a:t>
            </a:r>
          </a:p>
          <a:p>
            <a:pPr marL="0" indent="0" latinLnBrk="1">
              <a:buNone/>
            </a:pPr>
            <a:endParaRPr lang="en-US" dirty="0"/>
          </a:p>
          <a:p>
            <a:pPr marL="0" indent="0" latinLnBrk="1">
              <a:buNone/>
            </a:pPr>
            <a:r>
              <a:rPr lang="en-US" dirty="0"/>
              <a:t>Result: 5.06 </a:t>
            </a:r>
            <a:r>
              <a:rPr lang="en-US" dirty="0" err="1"/>
              <a:t>ms</a:t>
            </a:r>
            <a:r>
              <a:rPr lang="en-US" dirty="0"/>
              <a:t> ± 125 </a:t>
            </a:r>
            <a:r>
              <a:rPr lang="en-US" dirty="0" err="1"/>
              <a:t>μs</a:t>
            </a:r>
            <a:r>
              <a:rPr lang="en-US" dirty="0"/>
              <a:t> per loop (mean ± std. dev. of 7 runs, 100 loops each)</a:t>
            </a:r>
          </a:p>
          <a:p>
            <a:pPr marL="0" indent="0" latinLnBrk="1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745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2657</TotalTime>
  <Words>1114</Words>
  <Application>Microsoft Office PowerPoint</Application>
  <PresentationFormat>Widescreen</PresentationFormat>
  <Paragraphs>173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Office Theme</vt:lpstr>
      <vt:lpstr>Chapter 2: Getting to know data in Python</vt:lpstr>
      <vt:lpstr>Python Data Types</vt:lpstr>
      <vt:lpstr>Data types</vt:lpstr>
      <vt:lpstr>None</vt:lpstr>
      <vt:lpstr>Number: Integer</vt:lpstr>
      <vt:lpstr>Number: float</vt:lpstr>
      <vt:lpstr>Number: Complex number</vt:lpstr>
      <vt:lpstr>Boolean</vt:lpstr>
      <vt:lpstr>Sequences (mutable, immutable)</vt:lpstr>
      <vt:lpstr>Immutable Sequence: String</vt:lpstr>
      <vt:lpstr>Immutable Sequence: Bytes</vt:lpstr>
      <vt:lpstr>Immutable Sequence: Tuple</vt:lpstr>
      <vt:lpstr>Mutable sequence: List</vt:lpstr>
      <vt:lpstr>Mutable sequence: byte array</vt:lpstr>
      <vt:lpstr>Set</vt:lpstr>
      <vt:lpstr>Dictionary</vt:lpstr>
      <vt:lpstr>Data in Pandas</vt:lpstr>
      <vt:lpstr>Pandas Series</vt:lpstr>
      <vt:lpstr>Pandas DataFrame</vt:lpstr>
      <vt:lpstr>Pandas/Numpy array vs Python sequence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Sokchea An</dc:creator>
  <cp:lastModifiedBy>Sokchea An</cp:lastModifiedBy>
  <cp:revision>22</cp:revision>
  <dcterms:created xsi:type="dcterms:W3CDTF">2025-12-19T00:06:17Z</dcterms:created>
  <dcterms:modified xsi:type="dcterms:W3CDTF">2025-12-27T05:46:53Z</dcterms:modified>
</cp:coreProperties>
</file>