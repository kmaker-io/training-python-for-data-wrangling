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E_E5C5CFA7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70" r:id="rId2"/>
    <p:sldId id="271" r:id="rId3"/>
    <p:sldId id="276" r:id="rId4"/>
    <p:sldId id="274" r:id="rId5"/>
    <p:sldId id="287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78" r:id="rId16"/>
    <p:sldId id="298" r:id="rId17"/>
    <p:sldId id="267" r:id="rId18"/>
  </p:sldIdLst>
  <p:sldSz cx="18288000" cy="10287000"/>
  <p:notesSz cx="6858000" cy="9144000"/>
  <p:embeddedFontLst>
    <p:embeddedFont>
      <p:font typeface="Libre Baskerville" panose="02000000000000000000" pitchFamily="2" charset="0"/>
      <p:regular r:id="rId20"/>
    </p:embeddedFont>
    <p:embeddedFont>
      <p:font typeface="Libre Baskerville Bold" panose="02000000000000000000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58C6FD-6802-038D-917F-8836A15A513B}" name="An Nicho" initials="AN" userId="5b2478d726665b3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72CE3-1BA0-FB4C-BF62-8400D044E6B6}" v="55" dt="2026-01-26T04:15:10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2" autoAdjust="0"/>
    <p:restoredTop sz="72721" autoAdjust="0"/>
  </p:normalViewPr>
  <p:slideViewPr>
    <p:cSldViewPr>
      <p:cViewPr>
        <p:scale>
          <a:sx n="71" d="100"/>
          <a:sy n="71" d="100"/>
        </p:scale>
        <p:origin x="88" y="-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microsoft.com/office/2015/10/relationships/revisionInfo" Target="revisionInfo.xml"/></Relationships>
</file>

<file path=ppt/comments/modernComment_10E_E5C5CF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467410-C770-49F1-9744-869C14A945B4}" authorId="{DC58C6FD-6802-038D-917F-8836A15A513B}" created="2025-09-16T11:01:36.2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54946215" sldId="270"/>
      <ac:spMk id="20" creationId="{1A494030-E4CD-5D01-A226-E38319B674AD}"/>
      <ac:txMk cp="0" len="13">
        <ac:context len="14" hash="2390684618"/>
      </ac:txMk>
    </ac:txMkLst>
    <p188:txBody>
      <a:bodyPr/>
      <a:lstStyle/>
      <a:p>
        <a:r>
          <a:rPr lang="en-US"/>
          <a:t>Insert current date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39615-E23C-2E42-8B64-5904E8230308}" type="datetimeFigureOut">
              <a:rPr lang="en-KH" smtClean="0"/>
              <a:t>26/1/26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5DE50-52C4-1A48-803E-F91359A88900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2991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114657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K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43889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DB0D-4E59-3DB4-F4D7-F0659B01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D881E-FB62-FC5C-465F-070817AB8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E0809-1C3B-9403-9500-92869876E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27004-864C-D9BE-6A6B-D854E58E6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44551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726707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05FFD-82B5-C580-B766-F22D74B9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56D30-33B1-97C7-D75F-C6FA283E5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0C2F7-1F45-E97A-678F-314DF090E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ECBBC-B2E2-65E4-92AB-15B04AC70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111848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FF1D-87C0-BC1B-8BF9-1FE58E9E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FF349-F77A-DE4B-4A26-456124207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ACF1B-3735-8841-2EE2-A5B620585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8D267-EB67-11AF-59BE-0D716AAF5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149747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BC0D-D1DA-4D07-8DF8-BE368406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7901B-B7BB-313F-B9CF-AC178E231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1C83C-CAF2-7D44-EF7A-E7E436BB6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B4DED-6FD0-AB94-5E8B-2C5C197C8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7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910152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0EDEC-1DCC-DB32-DD8D-C2527A65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EFBE0-9A1F-82F9-82E0-0C15243D3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258B0-B757-6487-921A-B33D901C5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163C7-4C46-F7E3-BCD7-6B5D18350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8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66811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68D2-D07E-8837-3A48-F6A02B1D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580A0-1068-4A4C-637E-F56953B5D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66BC3-5191-D9AB-5FA6-C40A4679D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A8401-4DD2-D1F8-19D0-26790A820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9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578082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E47C-246A-CEC8-DBF0-1B50B6AC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6D39-B7FF-8BFB-7F0C-D76CF5CD0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A56E9-EA93-7354-52CD-8A4054964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A9C31-8F67-22A8-D6CB-82DD3FEED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10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822760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1B48-D46D-66AF-B0B9-A69E2F120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4D0D5-531B-2243-80B9-8DED9D8C0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F550C-81F8-B6C8-64E7-9B85C2769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EDC6B-0241-AE2D-7D17-6975EEE27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11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1017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7178-A6F9-E36C-E0AF-7558FD88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D0A4C-96E4-2B14-12B1-331D5643F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9B5A4-4F5D-7204-C8C2-1285E9A13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141CE-DA6A-A041-6F1E-0705F1AF8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097919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04656-5AF0-05B2-7ABF-90AC1AAD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7F94D-D667-2DE2-6EF8-1A1026347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E40D3-BA07-FC67-ECC9-1A2DCC730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BA80D-FEF0-2CC9-2AFB-92A03E961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796762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CF6B-7830-34A5-4071-09643BA9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93013-41FE-3854-8CC7-A432BE2B9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AD64C-D35D-3AD0-8E1D-C77964D30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C5536-A155-23C0-6035-7144B4745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135691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8FE2-96F5-DD7C-4E15-1624626B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5AB1F-0DD1-D63A-E185-BCA437CF5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C2FB3-DD56-D924-5559-28A95FFA8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5158A-7FAE-B7E8-EBC4-778603D70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16808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4DA7-AAE8-A57C-A983-6047CE46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32FB8-EF07-C476-03D9-2B01D2036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BA669-54AD-F00F-C785-FB1B0836C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8AFA3-0D3F-E88D-F499-16A45F9F2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95768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5DE50-52C4-1A48-803E-F91359A88900}" type="slidenum">
              <a:rPr lang="en-KH" smtClean="0"/>
              <a:t>17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275420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B457F-6FDE-4648-9528-D3255CB71862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D918-ED24-F44D-9046-CDE32EBB9BBD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075AB-6428-764C-9D56-02D4287C3722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0967-6D11-0746-8032-209DFAFD86D3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738A-119E-AC47-8391-D6147E0ECB52}" type="datetime1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F1C0-81D2-BD4C-9548-55D879D08873}" type="datetime1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E78A-CFF8-9A49-83B9-88E5D09F8BF6}" type="datetime1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39B-A83D-BF4F-B59E-B278526A976E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348C-7E8F-1244-907D-B46F44D7B1DC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F9B2-2FC3-EA43-90E7-B26042ED9709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F728-5A02-C044-B728-8B016EC15148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F3C56-556E-F24A-8D84-BDA9B95596F6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E5C5CFA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3.sv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svg"/><Relationship Id="rId9" Type="http://schemas.openxmlformats.org/officeDocument/2006/relationships/image" Target="../media/image1.png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94C67-E6C8-2907-FDCF-567758D7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FF0AE3-C53A-A714-EFCA-D7F82BC3BFE2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0B745DC-EECA-2E8F-E90E-61DBEEE3C020}"/>
              </a:ext>
            </a:extLst>
          </p:cNvPr>
          <p:cNvGrpSpPr/>
          <p:nvPr/>
        </p:nvGrpSpPr>
        <p:grpSpPr>
          <a:xfrm>
            <a:off x="-1415561" y="8299195"/>
            <a:ext cx="3086100" cy="30861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4DC23C7-EB12-9602-B2AC-5A34EFADA1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966">
                <a:alpha val="38824"/>
              </a:srgbClr>
            </a:solidFill>
          </p:spPr>
          <p:txBody>
            <a:bodyPr/>
            <a:lstStyle/>
            <a:p>
              <a:endParaRPr lang="en-K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5EED438-FA7F-40D7-7E1E-F4173FA932C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20DC28C-E78D-2311-2DAA-C84EC6DF7C6F}"/>
              </a:ext>
            </a:extLst>
          </p:cNvPr>
          <p:cNvSpPr/>
          <p:nvPr/>
        </p:nvSpPr>
        <p:spPr>
          <a:xfrm>
            <a:off x="-1247819" y="6472207"/>
            <a:ext cx="2495638" cy="2495638"/>
          </a:xfrm>
          <a:custGeom>
            <a:avLst/>
            <a:gdLst/>
            <a:ahLst/>
            <a:cxnLst/>
            <a:rect l="l" t="t" r="r" b="b"/>
            <a:pathLst>
              <a:path w="2495638" h="2495638">
                <a:moveTo>
                  <a:pt x="0" y="0"/>
                </a:moveTo>
                <a:lnTo>
                  <a:pt x="2495638" y="0"/>
                </a:lnTo>
                <a:lnTo>
                  <a:pt x="2495638" y="2495638"/>
                </a:lnTo>
                <a:lnTo>
                  <a:pt x="0" y="2495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E06AFD1-60E7-830C-639B-4E80275E20E1}"/>
              </a:ext>
            </a:extLst>
          </p:cNvPr>
          <p:cNvGrpSpPr/>
          <p:nvPr/>
        </p:nvGrpSpPr>
        <p:grpSpPr>
          <a:xfrm>
            <a:off x="16098432" y="-938533"/>
            <a:ext cx="3086100" cy="308610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E397198-F437-89D9-B5C6-CC2764144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966">
                <a:alpha val="38824"/>
              </a:srgbClr>
            </a:solidFill>
          </p:spPr>
          <p:txBody>
            <a:bodyPr/>
            <a:lstStyle/>
            <a:p>
              <a:endParaRPr lang="en-K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E043190-1030-B9D4-FA7C-A62329A054F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4CE109E6-8796-BA98-659B-2E4240B30F03}"/>
              </a:ext>
            </a:extLst>
          </p:cNvPr>
          <p:cNvSpPr/>
          <p:nvPr/>
        </p:nvSpPr>
        <p:spPr>
          <a:xfrm>
            <a:off x="16541205" y="899748"/>
            <a:ext cx="2495638" cy="2495638"/>
          </a:xfrm>
          <a:custGeom>
            <a:avLst/>
            <a:gdLst/>
            <a:ahLst/>
            <a:cxnLst/>
            <a:rect l="l" t="t" r="r" b="b"/>
            <a:pathLst>
              <a:path w="2495638" h="2495638">
                <a:moveTo>
                  <a:pt x="0" y="0"/>
                </a:moveTo>
                <a:lnTo>
                  <a:pt x="2495638" y="0"/>
                </a:lnTo>
                <a:lnTo>
                  <a:pt x="2495638" y="2495638"/>
                </a:lnTo>
                <a:lnTo>
                  <a:pt x="0" y="2495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CC7FEA4-164E-0ECC-8089-0811A9952EC2}"/>
              </a:ext>
            </a:extLst>
          </p:cNvPr>
          <p:cNvGrpSpPr/>
          <p:nvPr/>
        </p:nvGrpSpPr>
        <p:grpSpPr>
          <a:xfrm>
            <a:off x="3899474" y="4024947"/>
            <a:ext cx="10489052" cy="2594952"/>
            <a:chOff x="3899474" y="4511970"/>
            <a:chExt cx="10489052" cy="2594952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A1F725B-3C01-2834-4AF7-8EF5B3561DCF}"/>
                </a:ext>
              </a:extLst>
            </p:cNvPr>
            <p:cNvSpPr txBox="1"/>
            <p:nvPr/>
          </p:nvSpPr>
          <p:spPr>
            <a:xfrm>
              <a:off x="3899474" y="4511970"/>
              <a:ext cx="10489052" cy="11476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0357"/>
                </a:lnSpc>
              </a:pPr>
              <a:r>
                <a:rPr lang="en-US" sz="4400" b="1" spc="459" dirty="0">
                  <a:solidFill>
                    <a:srgbClr val="E1AC26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Python for Data Wrangling</a:t>
              </a:r>
            </a:p>
          </p:txBody>
        </p:sp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9EE8D868-3727-FC7A-4ED6-3B43473E63DE}"/>
                </a:ext>
              </a:extLst>
            </p:cNvPr>
            <p:cNvSpPr txBox="1"/>
            <p:nvPr/>
          </p:nvSpPr>
          <p:spPr>
            <a:xfrm>
              <a:off x="7632553" y="6553181"/>
              <a:ext cx="3022894" cy="5537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217"/>
                </a:lnSpc>
              </a:pPr>
              <a:r>
                <a:rPr lang="en-US" sz="1600" dirty="0">
                  <a:solidFill>
                    <a:srgbClr val="565658"/>
                  </a:solidFill>
                  <a:effectLst/>
                  <a:latin typeface="Libre Baskerville" panose="02000000000000000000" pitchFamily="2" charset="0"/>
                </a:rPr>
                <a:t>by </a:t>
              </a:r>
              <a:r>
                <a:rPr lang="en-US" sz="1600" b="1" dirty="0" err="1">
                  <a:solidFill>
                    <a:srgbClr val="565658"/>
                  </a:solidFill>
                  <a:effectLst/>
                  <a:latin typeface="Libre Baskerville" panose="02000000000000000000" pitchFamily="2" charset="0"/>
                </a:rPr>
                <a:t>Sokchea</a:t>
              </a:r>
              <a:r>
                <a:rPr lang="en-US" sz="1600" b="1" dirty="0">
                  <a:solidFill>
                    <a:srgbClr val="565658"/>
                  </a:solidFill>
                  <a:effectLst/>
                  <a:latin typeface="Libre Baskerville" panose="02000000000000000000" pitchFamily="2" charset="0"/>
                </a:rPr>
                <a:t> AN</a:t>
              </a:r>
              <a:endParaRPr lang="en-US" sz="1600" b="1" spc="65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04A14-6665-7F51-A29C-24CE5A58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34300" y="6619899"/>
            <a:ext cx="2819400" cy="365125"/>
          </a:xfrm>
        </p:spPr>
        <p:txBody>
          <a:bodyPr/>
          <a:lstStyle/>
          <a:p>
            <a:pPr algn="ctr"/>
            <a:fld id="{C8F6AC45-2697-41AC-ACF0-2E68ED9D78D3}" type="datetime4">
              <a:rPr lang="en-US" sz="1600">
                <a:solidFill>
                  <a:srgbClr val="565658"/>
                </a:solidFill>
                <a:latin typeface="Libre Baskerville" panose="02000000000000000000" pitchFamily="2" charset="0"/>
              </a:rPr>
              <a:pPr algn="ctr"/>
              <a:t>January 26, 2026</a:t>
            </a:fld>
            <a:endParaRPr lang="en-US" sz="1600" dirty="0">
              <a:solidFill>
                <a:srgbClr val="565658"/>
              </a:solidFill>
              <a:latin typeface="Libre Baskervill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9462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BD4E6-63B2-A0E9-4390-75DB7FD8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5A4878C-5A87-EB35-EF92-87F7A5A49505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DCA8FE-CD9D-8051-3CB6-1885BB900B9A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Course objective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4AA2B3-A72B-38B3-ABF6-925DCFFAEE78}"/>
              </a:ext>
            </a:extLst>
          </p:cNvPr>
          <p:cNvSpPr txBox="1"/>
          <p:nvPr/>
        </p:nvSpPr>
        <p:spPr>
          <a:xfrm>
            <a:off x="1434746" y="2644739"/>
            <a:ext cx="11443054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b="1" u="sng" dirty="0">
                <a:solidFill>
                  <a:srgbClr val="9BBB59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Using Python and Pandas and </a:t>
            </a:r>
            <a:r>
              <a:rPr lang="en-US" sz="3600" b="1" u="sng" dirty="0" err="1">
                <a:solidFill>
                  <a:srgbClr val="9BBB59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Numpy</a:t>
            </a:r>
            <a:r>
              <a:rPr lang="en-US" sz="3600" b="1" u="sng" dirty="0">
                <a:solidFill>
                  <a:srgbClr val="9BBB59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to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B5BC4AA-E57C-A11B-C894-5B9DCEAC75A5}"/>
              </a:ext>
            </a:extLst>
          </p:cNvPr>
          <p:cNvSpPr txBox="1"/>
          <p:nvPr/>
        </p:nvSpPr>
        <p:spPr>
          <a:xfrm>
            <a:off x="799329" y="3528287"/>
            <a:ext cx="15385204" cy="2334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Get data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Review data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Clean, 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standardise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transform and augment data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Analyse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/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visualise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Communicate data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A8B46B4-867F-822C-5B23-A6C9BA87F101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0801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D0A9A-6188-C7E0-51EF-967F230A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85100B5-CE65-3CD1-95DC-1737CD9B1365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F346DC-E4C0-DCE9-18CB-DE5952B482D6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Chapter 1 - Intro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2306FDE-7DBD-C2BC-910E-2C8D9D038EB1}"/>
              </a:ext>
            </a:extLst>
          </p:cNvPr>
          <p:cNvSpPr txBox="1"/>
          <p:nvPr/>
        </p:nvSpPr>
        <p:spPr>
          <a:xfrm>
            <a:off x="1434747" y="2644739"/>
            <a:ext cx="7450058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b="1" u="sng" dirty="0">
                <a:solidFill>
                  <a:srgbClr val="9BBB59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Setup Environment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437F4D0-EABA-0B2D-E3BB-688B444AABF1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BEAE9CE-5421-B480-CA9E-932DD26245ED}"/>
              </a:ext>
            </a:extLst>
          </p:cNvPr>
          <p:cNvSpPr txBox="1"/>
          <p:nvPr/>
        </p:nvSpPr>
        <p:spPr>
          <a:xfrm>
            <a:off x="799329" y="3528287"/>
            <a:ext cx="15385204" cy="1859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Python in a nutshell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Setup Python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Setup and overview of 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Pycharm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Zen of Python</a:t>
            </a:r>
          </a:p>
        </p:txBody>
      </p:sp>
    </p:spTree>
    <p:extLst>
      <p:ext uri="{BB962C8B-B14F-4D97-AF65-F5344CB8AC3E}">
        <p14:creationId xmlns:p14="http://schemas.microsoft.com/office/powerpoint/2010/main" val="184024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E0B0B-F2CC-A4AC-5F1F-EDB05C4B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2A3D431E-EB5F-3518-359A-62983336D7C7}"/>
              </a:ext>
            </a:extLst>
          </p:cNvPr>
          <p:cNvSpPr txBox="1"/>
          <p:nvPr/>
        </p:nvSpPr>
        <p:spPr>
          <a:xfrm>
            <a:off x="838200" y="4515593"/>
            <a:ext cx="7757780" cy="328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is a high-level, general-purpose programming language: easy to learn and use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Second most popular programming language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Programming language of choice for data analysis, data science and AI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0A44439-3B99-422A-9BE8-EA9B1903BE7C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E147E03-BEB2-3C21-4421-8C7F7DF5E3D5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Python in a nutshell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10BEB7C-F66A-1451-E930-6150D9CD140F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pic>
        <p:nvPicPr>
          <p:cNvPr id="5" name="Picture 2" descr="A chart showing the top 10 programming languages on GitHub from 2023 to 2025. TypeScript rises to #1 in 2025, overtaking Python and JavaScript, which move to #2 and #3 respectively. Other top languages include Java, C#, PHP, Shell, C++, HCL, and Go. The chart tracks ranking changes over time on a dark background with colored lines representing each language.">
            <a:extLst>
              <a:ext uri="{FF2B5EF4-FFF2-40B4-BE49-F238E27FC236}">
                <a16:creationId xmlns:a16="http://schemas.microsoft.com/office/drawing/2014/main" id="{1D896DEF-0FA9-CA85-E361-51B0D2840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852" y="3287263"/>
            <a:ext cx="9241948" cy="519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140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9B95F-F57E-ED98-5EA4-45913F4D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226365F-962B-CD94-0B1E-52CB46DCAF84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355FCAC-1B8C-14B3-3BFF-C0BBBE823A0B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Setup Python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EB1A935-3535-3E3E-5521-AA0C5896D9A3}"/>
              </a:ext>
            </a:extLst>
          </p:cNvPr>
          <p:cNvSpPr txBox="1"/>
          <p:nvPr/>
        </p:nvSpPr>
        <p:spPr>
          <a:xfrm>
            <a:off x="1434747" y="2644739"/>
            <a:ext cx="7450058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b="1" u="sng" dirty="0">
                <a:solidFill>
                  <a:srgbClr val="9BBB59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Setup Environment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B34680-FA31-B3D0-3A92-6EF715D09FBA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540C165-23A4-E7BA-145E-6216BE419AA2}"/>
              </a:ext>
            </a:extLst>
          </p:cNvPr>
          <p:cNvSpPr txBox="1"/>
          <p:nvPr/>
        </p:nvSpPr>
        <p:spPr>
          <a:xfrm>
            <a:off x="799329" y="3528287"/>
            <a:ext cx="15385204" cy="91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Download python: https://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www.python.org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/ftp/python/3.12.10/python-3.12.10-amd64.exe 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install and follow the installation processes</a:t>
            </a:r>
          </a:p>
        </p:txBody>
      </p:sp>
    </p:spTree>
    <p:extLst>
      <p:ext uri="{BB962C8B-B14F-4D97-AF65-F5344CB8AC3E}">
        <p14:creationId xmlns:p14="http://schemas.microsoft.com/office/powerpoint/2010/main" val="298006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9CF6B-80EE-8970-7754-A7CB15A5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1C4D5D5-86DB-F3AF-DDE0-6876AB25942A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C9F157E-780D-B6D0-B8C2-D3205A472944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Setup IDE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D6B65F-6A63-B30F-120F-F736565F4881}"/>
              </a:ext>
            </a:extLst>
          </p:cNvPr>
          <p:cNvSpPr txBox="1"/>
          <p:nvPr/>
        </p:nvSpPr>
        <p:spPr>
          <a:xfrm>
            <a:off x="1434747" y="2644739"/>
            <a:ext cx="7450058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b="1" u="sng" dirty="0">
                <a:solidFill>
                  <a:srgbClr val="9BBB59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Setup Environment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E395079-ED6B-B548-1A71-F925FC1A9412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5D7317C-A315-C704-3DD1-BEB4AFEF3E97}"/>
              </a:ext>
            </a:extLst>
          </p:cNvPr>
          <p:cNvSpPr txBox="1"/>
          <p:nvPr/>
        </p:nvSpPr>
        <p:spPr>
          <a:xfrm>
            <a:off x="799329" y="3528287"/>
            <a:ext cx="15385204" cy="91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Dowload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Pycharm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https://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www.jetbrains.com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/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pycharm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/download 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Follow installation processes</a:t>
            </a:r>
          </a:p>
        </p:txBody>
      </p:sp>
    </p:spTree>
    <p:extLst>
      <p:ext uri="{BB962C8B-B14F-4D97-AF65-F5344CB8AC3E}">
        <p14:creationId xmlns:p14="http://schemas.microsoft.com/office/powerpoint/2010/main" val="111528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6B6E9-B7CE-0E9D-24F7-337D4E06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9CB99B8-7788-5ABD-5A7D-993BBB767CD5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677F275-9AC9-1502-36FC-D27A2E037D27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New Project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D9476E0-6DD4-508A-8F4E-C73BC46688AE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0BF2B9C-EFD1-505A-C6C9-206B62E0FFAE}"/>
              </a:ext>
            </a:extLst>
          </p:cNvPr>
          <p:cNvSpPr txBox="1"/>
          <p:nvPr/>
        </p:nvSpPr>
        <p:spPr>
          <a:xfrm>
            <a:off x="799329" y="3528287"/>
            <a:ext cx="15385204" cy="2334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Open 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Pycharm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“New”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Interpreter type, select “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uv</a:t>
            </a: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”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Python version, select 3.12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“Create”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F24852-4C1C-AA2A-8F49-FB42D2394D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806"/>
          <a:stretch>
            <a:fillRect/>
          </a:stretch>
        </p:blipFill>
        <p:spPr>
          <a:xfrm>
            <a:off x="7543801" y="2227283"/>
            <a:ext cx="6248400" cy="194282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BEAC65-8282-368F-1D40-1E0C6A2C3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4358360"/>
            <a:ext cx="6248400" cy="449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5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BDA77-79C3-4178-E345-C523AA1B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3BA31A5-A735-E178-244D-8EF736B6F3B5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D83958A-8820-9E94-61B3-9E3AC2250B4A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Install libraries/packages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5B74C5D-E922-DFC4-C641-7A8125E74CF2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949E566C-9DA0-7691-EDFF-9A65DCFF9900}"/>
              </a:ext>
            </a:extLst>
          </p:cNvPr>
          <p:cNvSpPr txBox="1"/>
          <p:nvPr/>
        </p:nvSpPr>
        <p:spPr>
          <a:xfrm>
            <a:off x="990600" y="2272516"/>
            <a:ext cx="6019800" cy="6604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File -&gt; Settings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Python -&gt; Interpreter -&gt; Add package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Below are common packages we will use in the course. Let’s add: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Pandas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Numpy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Openlyxl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Sqlalchemy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Asyncpg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Psycopg2-binary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Matplotlib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Seaborn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jupyterlab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FCA908A-117F-061A-A1DF-B17F49F83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1866900"/>
            <a:ext cx="4419600" cy="349852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35F705-4D03-33B2-0311-463C6D3B1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7282" y="5417034"/>
            <a:ext cx="5253318" cy="391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60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DF2E1-DE61-9B61-9A0C-FE60BEDB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30A16A6-F753-FD5B-C0DA-6F7940F9B02C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416915-C55A-24A1-DC4B-BCBB7AE6457B}"/>
              </a:ext>
            </a:extLst>
          </p:cNvPr>
          <p:cNvSpPr txBox="1"/>
          <p:nvPr/>
        </p:nvSpPr>
        <p:spPr>
          <a:xfrm>
            <a:off x="2668185" y="4066282"/>
            <a:ext cx="12951628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Get to know </a:t>
            </a:r>
            <a:r>
              <a:rPr lang="en-US" sz="7290" b="1" dirty="0" err="1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Pycharm</a:t>
            </a: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a bit more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B8DC074-C512-5B53-9980-7162EF83C3D1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61017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F9866-3ADD-89C2-BE6A-357D98E9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B95EE28-B35A-61E6-35C3-55F07BD6F9AD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ED46C51-5D23-9AC0-5DB1-F38CC65149A1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 err="1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Pycharm</a:t>
            </a: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IDE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1DBEE44-34C2-6DCF-D628-45D18C88E465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0FABB95-E7B4-ECC2-0212-B1347E6DD4E1}"/>
              </a:ext>
            </a:extLst>
          </p:cNvPr>
          <p:cNvSpPr txBox="1"/>
          <p:nvPr/>
        </p:nvSpPr>
        <p:spPr>
          <a:xfrm>
            <a:off x="799329" y="3528287"/>
            <a:ext cx="15385204" cy="3757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PyCharm is a dedicated Python Integrated Development Environment (IDE) providing a wide range of essential tools for Python developers, tightly integrated to create a convenient environment for productive Python, web, and data science development.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Recommended computer specs: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8GB of RAM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Multi-core CPU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5GB of SSD storage space</a:t>
            </a:r>
          </a:p>
        </p:txBody>
      </p:sp>
    </p:spTree>
    <p:extLst>
      <p:ext uri="{BB962C8B-B14F-4D97-AF65-F5344CB8AC3E}">
        <p14:creationId xmlns:p14="http://schemas.microsoft.com/office/powerpoint/2010/main" val="312655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A138B-953D-F151-D068-49757398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1E5CC13-5847-6BA9-E886-79218EB67BCA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3194A5E-487E-97D4-34DD-5130F087011A}"/>
              </a:ext>
            </a:extLst>
          </p:cNvPr>
          <p:cNvSpPr txBox="1"/>
          <p:nvPr/>
        </p:nvSpPr>
        <p:spPr>
          <a:xfrm>
            <a:off x="2821772" y="935367"/>
            <a:ext cx="126444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Python script in </a:t>
            </a:r>
            <a:r>
              <a:rPr lang="en-US" sz="7290" b="1" dirty="0" err="1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Pycharm</a:t>
            </a:r>
            <a:endParaRPr lang="en-US" sz="7290" b="1" dirty="0">
              <a:solidFill>
                <a:srgbClr val="E1AC26"/>
              </a:solidFill>
              <a:latin typeface="Libre Baskerville Bold"/>
              <a:ea typeface="Libre Baskerville Bold"/>
              <a:cs typeface="Libre Baskerville Bold"/>
              <a:sym typeface="Libre Baskerville Bold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199550-0149-FEFD-300D-5A5864394C8B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D38FBC6-D41F-0B94-7EAB-5DFD21EC0639}"/>
              </a:ext>
            </a:extLst>
          </p:cNvPr>
          <p:cNvSpPr txBox="1"/>
          <p:nvPr/>
        </p:nvSpPr>
        <p:spPr>
          <a:xfrm>
            <a:off x="799329" y="3528287"/>
            <a:ext cx="6134871" cy="5181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 the left pane, right click at where you want to create the script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“New”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“Python Script”  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Type script name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Select “Python file” then press enter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Write some script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Select script file to run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run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AC5F44-3795-A58F-75F7-B1B49D4C2C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626" y="2259401"/>
            <a:ext cx="6824352" cy="4960778"/>
          </a:xfrm>
          <a:prstGeom prst="rect">
            <a:avLst/>
          </a:prstGeom>
        </p:spPr>
      </p:pic>
      <p:pic>
        <p:nvPicPr>
          <p:cNvPr id="6" name="Picture 5" descr="A black box with red square&#10;&#10;AI-generated content may be incorrect.">
            <a:extLst>
              <a:ext uri="{FF2B5EF4-FFF2-40B4-BE49-F238E27FC236}">
                <a16:creationId xmlns:a16="http://schemas.microsoft.com/office/drawing/2014/main" id="{1DC104D5-2D08-77E8-9017-5ED9698582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7026" y="7220179"/>
            <a:ext cx="9235774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BCD3F-DA1E-FF28-A7C7-5B02B27E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CBD6AE8-8E72-DC0B-21F1-08EFCD7CCA5B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BBDB64E-8951-28B5-BDE2-26B993DA318B}"/>
              </a:ext>
            </a:extLst>
          </p:cNvPr>
          <p:cNvSpPr txBox="1"/>
          <p:nvPr/>
        </p:nvSpPr>
        <p:spPr>
          <a:xfrm>
            <a:off x="2821772" y="935367"/>
            <a:ext cx="14856628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Python notebook in </a:t>
            </a:r>
            <a:r>
              <a:rPr lang="en-US" sz="7290" b="1" dirty="0" err="1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Pycharm</a:t>
            </a:r>
            <a:endParaRPr lang="en-US" sz="7290" b="1" dirty="0">
              <a:solidFill>
                <a:srgbClr val="E1AC26"/>
              </a:solidFill>
              <a:latin typeface="Libre Baskerville Bold"/>
              <a:ea typeface="Libre Baskerville Bold"/>
              <a:cs typeface="Libre Baskerville Bold"/>
              <a:sym typeface="Libre Baskerville Bold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52186EC-57A4-706A-D6E9-53224991D283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BAE5906-E7B8-9C62-77D4-43F435EC5978}"/>
              </a:ext>
            </a:extLst>
          </p:cNvPr>
          <p:cNvSpPr txBox="1"/>
          <p:nvPr/>
        </p:nvSpPr>
        <p:spPr>
          <a:xfrm>
            <a:off x="799329" y="3528287"/>
            <a:ext cx="6134871" cy="5181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 the left pane, right click at where you want to create the script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“New”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“Python Script”  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Type script name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Select “Python file” then press enter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Write some script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Select script file to run</a:t>
            </a:r>
          </a:p>
          <a:p>
            <a:pPr marL="795020" lvl="1" indent="-457200">
              <a:lnSpc>
                <a:spcPts val="3695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Click run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8EF857-D9EA-FA89-D263-9BCDB3A03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947" y="2726232"/>
            <a:ext cx="7363853" cy="309605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7A5F53-5218-2390-BC08-D8159888BB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6085250"/>
            <a:ext cx="3467584" cy="924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727179-37A4-C05A-A2A3-4121D97E33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0" y="7272265"/>
            <a:ext cx="497274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63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0CD82-D135-F839-C86C-97BEEDFB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CB8C3C7-58E2-CA1B-C2F8-2DED0290EDF8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2FBBABA-DACE-1CA3-4ECA-4C885DFF5774}"/>
              </a:ext>
            </a:extLst>
          </p:cNvPr>
          <p:cNvSpPr txBox="1"/>
          <p:nvPr/>
        </p:nvSpPr>
        <p:spPr>
          <a:xfrm>
            <a:off x="2821772" y="935367"/>
            <a:ext cx="12644457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Which Python tools to use?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113120D-01ED-7A4F-A38F-9A02F8E74E5A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B012513-9BFA-F271-21E0-3277ADEA9E33}"/>
              </a:ext>
            </a:extLst>
          </p:cNvPr>
          <p:cNvSpPr txBox="1"/>
          <p:nvPr/>
        </p:nvSpPr>
        <p:spPr>
          <a:xfrm>
            <a:off x="799329" y="3528287"/>
            <a:ext cx="15385204" cy="328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Notebook: an interactive web-based development environment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Interactive Python script development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analysis and data science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</a:t>
            </a:r>
            <a:r>
              <a:rPr lang="en-US" sz="2400" dirty="0" err="1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visualisation</a:t>
            </a:r>
            <a:endParaRPr lang="en-US" sz="2400" dirty="0">
              <a:solidFill>
                <a:srgbClr val="5656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Python script: Writing script for a deployable Python application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Web application</a:t>
            </a:r>
          </a:p>
          <a:p>
            <a:pPr marL="1132840" lvl="2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Turning notebook script into a deployable application</a:t>
            </a:r>
          </a:p>
        </p:txBody>
      </p:sp>
    </p:spTree>
    <p:extLst>
      <p:ext uri="{BB962C8B-B14F-4D97-AF65-F5344CB8AC3E}">
        <p14:creationId xmlns:p14="http://schemas.microsoft.com/office/powerpoint/2010/main" val="489493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9A6F8-1AAA-4C07-4308-B56C082C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36F3E72-F714-4DDD-B495-2F3BEA4B8F65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CC30A2-7824-60B9-E0F7-054EF0D17DE5}"/>
              </a:ext>
            </a:extLst>
          </p:cNvPr>
          <p:cNvSpPr txBox="1"/>
          <p:nvPr/>
        </p:nvSpPr>
        <p:spPr>
          <a:xfrm>
            <a:off x="2668185" y="4066282"/>
            <a:ext cx="12951628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The </a:t>
            </a:r>
            <a:r>
              <a:rPr lang="en-US" sz="7290" b="1" dirty="0" err="1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zen</a:t>
            </a: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of Python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E67F971-7AE1-B85C-B351-8C72ADE37E42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128745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745E-DC5A-FF41-5D2A-51992AE2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5EE4E21-FAFD-9BD4-8F57-84976E5D8631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1F1E5A8-271B-40B6-E319-FD74776D22DB}"/>
              </a:ext>
            </a:extLst>
          </p:cNvPr>
          <p:cNvSpPr txBox="1"/>
          <p:nvPr/>
        </p:nvSpPr>
        <p:spPr>
          <a:xfrm>
            <a:off x="2821772" y="935367"/>
            <a:ext cx="13180228" cy="1029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660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&gt;&gt;&gt; import this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77F178-0296-351D-FEF5-87D33C053F54}"/>
              </a:ext>
            </a:extLst>
          </p:cNvPr>
          <p:cNvSpPr txBox="1"/>
          <p:nvPr/>
        </p:nvSpPr>
        <p:spPr>
          <a:xfrm>
            <a:off x="838200" y="2552700"/>
            <a:ext cx="7757780" cy="518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Zen of Python, by Tim Peters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Beautiful is better than ugly.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Explicit is better than implicit.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Simple is better than complex.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Complex is better than complicated.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Flat is better than nested.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Sparse is better than dense.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Readability counts.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Special cases aren't special enough to break the rules.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Although practicality beats purity.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19AE7CE-7377-767A-EA75-59CD8764E2B1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12E6D5D4-EF3C-3BFE-76E2-1E0A256D8F50}"/>
              </a:ext>
            </a:extLst>
          </p:cNvPr>
          <p:cNvSpPr txBox="1"/>
          <p:nvPr/>
        </p:nvSpPr>
        <p:spPr>
          <a:xfrm>
            <a:off x="8865756" y="2678005"/>
            <a:ext cx="9422244" cy="6604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Errors should never pass silently.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Unless explicitly silenced.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 the face of ambiguity, refuse the temptation to guess.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There should be one-- and preferably only one --obvious way to do it.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Although that way may not be obvious at first unless you're Dutch.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Now is better than never.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Although never is often better than *right* now.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If the implementation is hard to explain, it's a bad idea.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If the implementation is easy to explain, it may be a good idea.</a:t>
            </a:r>
          </a:p>
          <a:p>
            <a:pPr marL="675640" lvl="1" indent="-337820">
              <a:lnSpc>
                <a:spcPts val="3695"/>
              </a:lnSpc>
              <a:buFont typeface="Arial"/>
              <a:buChar char="•"/>
            </a:pPr>
            <a:r>
              <a:rPr lang="en-US" sz="2400" dirty="0">
                <a:solidFill>
                  <a:srgbClr val="5656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Namespaces are one honking great idea -- let's do more of those!</a:t>
            </a:r>
          </a:p>
        </p:txBody>
      </p:sp>
    </p:spTree>
    <p:extLst>
      <p:ext uri="{BB962C8B-B14F-4D97-AF65-F5344CB8AC3E}">
        <p14:creationId xmlns:p14="http://schemas.microsoft.com/office/powerpoint/2010/main" val="2312911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1ECA-8199-99DC-F049-3B94883D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454A1A0-448B-5450-4137-B87D4CDDCDD5}"/>
              </a:ext>
            </a:extLst>
          </p:cNvPr>
          <p:cNvSpPr/>
          <p:nvPr/>
        </p:nvSpPr>
        <p:spPr>
          <a:xfrm>
            <a:off x="-828169" y="7048500"/>
            <a:ext cx="19944337" cy="6199365"/>
          </a:xfrm>
          <a:custGeom>
            <a:avLst/>
            <a:gdLst/>
            <a:ahLst/>
            <a:cxnLst/>
            <a:rect l="l" t="t" r="r" b="b"/>
            <a:pathLst>
              <a:path w="19944337" h="6199365">
                <a:moveTo>
                  <a:pt x="0" y="0"/>
                </a:moveTo>
                <a:lnTo>
                  <a:pt x="19944338" y="0"/>
                </a:lnTo>
                <a:lnTo>
                  <a:pt x="19944338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E02352-D805-C82C-DF6B-32ED579C42C8}"/>
              </a:ext>
            </a:extLst>
          </p:cNvPr>
          <p:cNvSpPr txBox="1"/>
          <p:nvPr/>
        </p:nvSpPr>
        <p:spPr>
          <a:xfrm>
            <a:off x="2668185" y="4066282"/>
            <a:ext cx="12951628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729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Any question?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0F6EFCD-2593-B827-B937-2447114B47D7}"/>
              </a:ext>
            </a:extLst>
          </p:cNvPr>
          <p:cNvSpPr/>
          <p:nvPr/>
        </p:nvSpPr>
        <p:spPr>
          <a:xfrm>
            <a:off x="280372" y="423772"/>
            <a:ext cx="1793338" cy="946991"/>
          </a:xfrm>
          <a:custGeom>
            <a:avLst/>
            <a:gdLst/>
            <a:ahLst/>
            <a:cxnLst/>
            <a:rect l="l" t="t" r="r" b="b"/>
            <a:pathLst>
              <a:path w="1793338" h="946991">
                <a:moveTo>
                  <a:pt x="0" y="0"/>
                </a:moveTo>
                <a:lnTo>
                  <a:pt x="1793338" y="0"/>
                </a:lnTo>
                <a:lnTo>
                  <a:pt x="1793338" y="946990"/>
                </a:lnTo>
                <a:lnTo>
                  <a:pt x="0" y="94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44044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-2086026" y="914785"/>
            <a:ext cx="7315200" cy="2042984"/>
          </a:xfrm>
          <a:custGeom>
            <a:avLst/>
            <a:gdLst/>
            <a:ahLst/>
            <a:cxnLst/>
            <a:rect l="l" t="t" r="r" b="b"/>
            <a:pathLst>
              <a:path w="7315200" h="2042984">
                <a:moveTo>
                  <a:pt x="0" y="0"/>
                </a:moveTo>
                <a:lnTo>
                  <a:pt x="7315200" y="0"/>
                </a:lnTo>
                <a:lnTo>
                  <a:pt x="7315200" y="2042984"/>
                </a:lnTo>
                <a:lnTo>
                  <a:pt x="0" y="2042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grpSp>
        <p:nvGrpSpPr>
          <p:cNvPr id="3" name="Group 3"/>
          <p:cNvGrpSpPr/>
          <p:nvPr/>
        </p:nvGrpSpPr>
        <p:grpSpPr>
          <a:xfrm>
            <a:off x="7473776" y="4414670"/>
            <a:ext cx="4032424" cy="1457659"/>
            <a:chOff x="0" y="0"/>
            <a:chExt cx="4453930" cy="1943546"/>
          </a:xfrm>
        </p:grpSpPr>
        <p:sp>
          <p:nvSpPr>
            <p:cNvPr id="4" name="Freeform 4"/>
            <p:cNvSpPr/>
            <p:nvPr/>
          </p:nvSpPr>
          <p:spPr>
            <a:xfrm>
              <a:off x="1699098" y="0"/>
              <a:ext cx="1055735" cy="875812"/>
            </a:xfrm>
            <a:custGeom>
              <a:avLst/>
              <a:gdLst/>
              <a:ahLst/>
              <a:cxnLst/>
              <a:rect l="l" t="t" r="r" b="b"/>
              <a:pathLst>
                <a:path w="1055735" h="875812">
                  <a:moveTo>
                    <a:pt x="0" y="0"/>
                  </a:moveTo>
                  <a:lnTo>
                    <a:pt x="1055734" y="0"/>
                  </a:lnTo>
                  <a:lnTo>
                    <a:pt x="1055734" y="875812"/>
                  </a:lnTo>
                  <a:lnTo>
                    <a:pt x="0" y="875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199" r="-20280"/>
              </a:stretch>
            </a:blipFill>
          </p:spPr>
          <p:txBody>
            <a:bodyPr/>
            <a:lstStyle/>
            <a:p>
              <a:endParaRPr lang="en-KH"/>
            </a:p>
          </p:txBody>
        </p:sp>
        <p:sp>
          <p:nvSpPr>
            <p:cNvPr id="5" name="Freeform 5"/>
            <p:cNvSpPr/>
            <p:nvPr/>
          </p:nvSpPr>
          <p:spPr>
            <a:xfrm>
              <a:off x="2869559" y="0"/>
              <a:ext cx="875812" cy="875812"/>
            </a:xfrm>
            <a:custGeom>
              <a:avLst/>
              <a:gdLst/>
              <a:ahLst/>
              <a:cxnLst/>
              <a:rect l="l" t="t" r="r" b="b"/>
              <a:pathLst>
                <a:path w="875812" h="875812">
                  <a:moveTo>
                    <a:pt x="0" y="0"/>
                  </a:moveTo>
                  <a:lnTo>
                    <a:pt x="875812" y="0"/>
                  </a:lnTo>
                  <a:lnTo>
                    <a:pt x="875812" y="875812"/>
                  </a:lnTo>
                  <a:lnTo>
                    <a:pt x="0" y="875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KH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8026" y="21331"/>
              <a:ext cx="846913" cy="833151"/>
            </a:xfrm>
            <a:custGeom>
              <a:avLst/>
              <a:gdLst/>
              <a:ahLst/>
              <a:cxnLst/>
              <a:rect l="l" t="t" r="r" b="b"/>
              <a:pathLst>
                <a:path w="846913" h="833151">
                  <a:moveTo>
                    <a:pt x="0" y="0"/>
                  </a:moveTo>
                  <a:lnTo>
                    <a:pt x="846913" y="0"/>
                  </a:lnTo>
                  <a:lnTo>
                    <a:pt x="846913" y="833150"/>
                  </a:lnTo>
                  <a:lnTo>
                    <a:pt x="0" y="83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K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0886"/>
              <a:ext cx="4453930" cy="752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977"/>
                </a:lnSpc>
              </a:pPr>
              <a:r>
                <a:rPr lang="en-US" sz="3211" b="1" dirty="0">
                  <a:solidFill>
                    <a:srgbClr val="3B3B3B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 </a:t>
              </a:r>
              <a:r>
                <a:rPr lang="en-US" sz="3211" dirty="0">
                  <a:solidFill>
                    <a:srgbClr val="3B3B3B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(855) 12 955 658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79151" y="859952"/>
            <a:ext cx="7729697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20"/>
              </a:lnSpc>
            </a:pPr>
            <a:r>
              <a:rPr lang="en-US" sz="7100" b="1" dirty="0">
                <a:solidFill>
                  <a:srgbClr val="E1A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Contact</a:t>
            </a:r>
          </a:p>
        </p:txBody>
      </p:sp>
      <p:sp>
        <p:nvSpPr>
          <p:cNvPr id="9" name="Freeform 9"/>
          <p:cNvSpPr/>
          <p:nvPr/>
        </p:nvSpPr>
        <p:spPr>
          <a:xfrm>
            <a:off x="3587791" y="7387862"/>
            <a:ext cx="1526397" cy="806030"/>
          </a:xfrm>
          <a:custGeom>
            <a:avLst/>
            <a:gdLst/>
            <a:ahLst/>
            <a:cxnLst/>
            <a:rect l="l" t="t" r="r" b="b"/>
            <a:pathLst>
              <a:path w="1526397" h="806030">
                <a:moveTo>
                  <a:pt x="0" y="0"/>
                </a:moveTo>
                <a:lnTo>
                  <a:pt x="1526396" y="0"/>
                </a:lnTo>
                <a:lnTo>
                  <a:pt x="1526396" y="806030"/>
                </a:lnTo>
                <a:lnTo>
                  <a:pt x="0" y="8060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1225" t="-51" r="-43116" b="-51"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10" name="Freeform 10"/>
          <p:cNvSpPr/>
          <p:nvPr/>
        </p:nvSpPr>
        <p:spPr>
          <a:xfrm>
            <a:off x="1606858" y="8193892"/>
            <a:ext cx="5488261" cy="775217"/>
          </a:xfrm>
          <a:custGeom>
            <a:avLst/>
            <a:gdLst/>
            <a:ahLst/>
            <a:cxnLst/>
            <a:rect l="l" t="t" r="r" b="b"/>
            <a:pathLst>
              <a:path w="5488261" h="775217">
                <a:moveTo>
                  <a:pt x="0" y="0"/>
                </a:moveTo>
                <a:lnTo>
                  <a:pt x="5488262" y="0"/>
                </a:lnTo>
                <a:lnTo>
                  <a:pt x="5488262" y="775217"/>
                </a:lnTo>
                <a:lnTo>
                  <a:pt x="0" y="775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11" name="Freeform 11"/>
          <p:cNvSpPr/>
          <p:nvPr/>
        </p:nvSpPr>
        <p:spPr>
          <a:xfrm>
            <a:off x="15103933" y="7165111"/>
            <a:ext cx="2472027" cy="2472027"/>
          </a:xfrm>
          <a:custGeom>
            <a:avLst/>
            <a:gdLst/>
            <a:ahLst/>
            <a:cxnLst/>
            <a:rect l="l" t="t" r="r" b="b"/>
            <a:pathLst>
              <a:path w="2472027" h="2472027">
                <a:moveTo>
                  <a:pt x="0" y="0"/>
                </a:moveTo>
                <a:lnTo>
                  <a:pt x="2472027" y="0"/>
                </a:lnTo>
                <a:lnTo>
                  <a:pt x="2472027" y="2472027"/>
                </a:lnTo>
                <a:lnTo>
                  <a:pt x="0" y="24720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12" name="Freeform 12"/>
          <p:cNvSpPr/>
          <p:nvPr/>
        </p:nvSpPr>
        <p:spPr>
          <a:xfrm>
            <a:off x="12393224" y="7165111"/>
            <a:ext cx="2472027" cy="2472027"/>
          </a:xfrm>
          <a:custGeom>
            <a:avLst/>
            <a:gdLst/>
            <a:ahLst/>
            <a:cxnLst/>
            <a:rect l="l" t="t" r="r" b="b"/>
            <a:pathLst>
              <a:path w="2472027" h="2472027">
                <a:moveTo>
                  <a:pt x="0" y="0"/>
                </a:moveTo>
                <a:lnTo>
                  <a:pt x="2472027" y="0"/>
                </a:lnTo>
                <a:lnTo>
                  <a:pt x="2472027" y="2472027"/>
                </a:lnTo>
                <a:lnTo>
                  <a:pt x="0" y="24720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13" name="Freeform 13"/>
          <p:cNvSpPr/>
          <p:nvPr/>
        </p:nvSpPr>
        <p:spPr>
          <a:xfrm>
            <a:off x="9640897" y="7177949"/>
            <a:ext cx="2473727" cy="2473727"/>
          </a:xfrm>
          <a:custGeom>
            <a:avLst/>
            <a:gdLst/>
            <a:ahLst/>
            <a:cxnLst/>
            <a:rect l="l" t="t" r="r" b="b"/>
            <a:pathLst>
              <a:path w="2473727" h="2473727">
                <a:moveTo>
                  <a:pt x="0" y="0"/>
                </a:moveTo>
                <a:lnTo>
                  <a:pt x="2473726" y="0"/>
                </a:lnTo>
                <a:lnTo>
                  <a:pt x="2473726" y="2473727"/>
                </a:lnTo>
                <a:lnTo>
                  <a:pt x="0" y="2473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KH"/>
          </a:p>
        </p:txBody>
      </p:sp>
      <p:sp>
        <p:nvSpPr>
          <p:cNvPr id="14" name="TextBox 14"/>
          <p:cNvSpPr txBox="1"/>
          <p:nvPr/>
        </p:nvSpPr>
        <p:spPr>
          <a:xfrm>
            <a:off x="1606858" y="8424338"/>
            <a:ext cx="548826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sz="2242" b="1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info@kmaker.io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040" y="9197709"/>
            <a:ext cx="7277898" cy="43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6"/>
              </a:lnSpc>
              <a:spcBef>
                <a:spcPct val="0"/>
              </a:spcBef>
            </a:pPr>
            <a:r>
              <a:rPr lang="en-US" sz="1497" b="1" dirty="0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Address: Street 586, Sangkat </a:t>
            </a:r>
            <a:r>
              <a:rPr lang="en-US" sz="1497" b="1" dirty="0" err="1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Teuk</a:t>
            </a:r>
            <a:r>
              <a:rPr lang="en-US" sz="1497" b="1" dirty="0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1497" b="1" dirty="0" err="1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L’ak</a:t>
            </a:r>
            <a:r>
              <a:rPr lang="en-US" sz="1497" b="1" dirty="0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1497" b="1" dirty="0" err="1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ti</a:t>
            </a:r>
            <a:r>
              <a:rPr lang="en-US" sz="1497" b="1" dirty="0">
                <a:solidFill>
                  <a:srgbClr val="3B3B3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1,Khan Toul Kork, Phnom Penh, Cambodia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8536</TotalTime>
  <Words>637</Words>
  <Application>Microsoft Macintosh PowerPoint</Application>
  <PresentationFormat>Custom</PresentationFormat>
  <Paragraphs>125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Aptos</vt:lpstr>
      <vt:lpstr>Libre Baskerville Bold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KMaker - Portfolio</dc:title>
  <cp:lastModifiedBy>Souphorn AN</cp:lastModifiedBy>
  <cp:revision>4</cp:revision>
  <dcterms:created xsi:type="dcterms:W3CDTF">2006-08-16T00:00:00Z</dcterms:created>
  <dcterms:modified xsi:type="dcterms:W3CDTF">2026-01-26T04:15:28Z</dcterms:modified>
  <dc:identifier>DAGdaMovSx4</dc:identifier>
</cp:coreProperties>
</file>